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Mental processes involving perception, memory, reasoning, and decision-making (https://en.wikipedia.org/wiki/Cognition) that enable information processing, pattern recognition, and problem-solving. Human cognition is characterized by adaptive learning and the ability to generalize knowledge across diverse contexts. Unlike machines, humans can learn from limited examples and apply abstract reasoning to novel situations.</a:t>
            </a:r>
          </a:p>
          <a:p>
            <a:r>
              <a:t>AI systems that attempt to simulate aspects of human-like thinking processes by combining machine learning, natural language processing, and limited reasoning capabilities. Current "cognitive AI" is more accurately described as advanced machine learning with pattern recognition within trained domains. Important Note: True self-learning systems that can autonomously improve without human intervention remain largely aspirational; current production systems require human supervision, periodic retraining, and continuous oversight to maintain performance and safety.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mind operates like a computer with sequential information processing stages: sensory input, encoding, storage, and retrieval. This framework revolutionized cognitive psychology by providing a structured model for understanding mental operations.</a:t>
            </a:r>
          </a:p>
          <a:p>
            <a:r>
              <a:t>Working memory has limited capacity (approximately 7±2 items). Three types of load affect learning: intrinsic (task complexity), extraneous (presentation method), and germane (schema construction). This theory is crucial for understanding AI system design and human-computer interaction.</a:t>
            </a:r>
          </a:p>
          <a:p>
            <a:r>
              <a:t>Human thinking operates through two systems: System 1 (automatic, fast, unconscious) and System 2 (controlled, slow, conscious). This framework helps explain both human cognitive biases and informs AI decision-making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Traditional AI systems operate on explicitly programmed rules and logic trees created by human experts. These systems provide pre-programmed responses based on if-then conditions encoded during development. They exhibit limited adaptability because any changes to their behavior require manual reprogramming by developers. Their expertise remains narrow, confined strictly to the domain for which rules were written. While reliable within their constraints, these systems cannot learn from new experiences or adapt to scenarios not anticipated during their design phase.</a:t>
            </a:r>
          </a:p>
          <a:p>
            <a:r>
              <a:t>Modern AI systems leverage machine learning algorithms that recognize patterns in training data rather than following explicit rules. These systems can identify correlations and make predictions based on statistical models learned from historical data. However, their adaptation capabilities remain limited to the domains and data distributions they were trained on. A critical distinction from marketing claims is that these systems require human supervision and periodic retraining to maintain performance. When data distributions shift (known as model drift) or new edge cases emerge, data scientists must intervene to retrain models with updated data. Context-awareness exists only within parameters defined during training, not through genuine understanding.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Virtual assistants like Alexa, Siri, and Google Assistant use natural language processing built on pre-trained foundation models to understand and respond to user queries. These systems provide context-aware responses within the boundaries of their training data and can handle follow-up questions in conversational flows. However, the reality is that these systems do not truly learn from individual user interactions in real-time. Instead, technology companies periodically release model updates trained on aggregated user data, requiring centralized retraining by data scientists rather than autonomous self-improvement.</a:t>
            </a:r>
          </a:p>
          <a:p>
            <a:r>
              <a:t>Platforms like Netflix and Amazon employ sophisticated recommendation engines that analyze user behavior patterns in real-time, adjusting suggestions based on viewing history, ratings, and interaction patterns. These systems use collaborative filtering and content-based filtering to predict user preferences. Within a single session, they can adapt recommendations based on immediate user actions. However, this "learning" is constrained to pre-programmed algorithmic adjustments rather than fundamental model evolution, and significant improvements still require human-designed algorithm updates.</a:t>
            </a:r>
          </a:p>
          <a:p>
            <a:r>
              <a:t>Smart thermostats, lighting systems, and security devices learn from environmental patterns and user behavior to optimize home automation. They recognize daily routines, temperature preferences, and usage patterns to make predictive adjustments. Despite appearing intelligent, these systems operate within strictly defined parameters set by their developers. True adaptation to completely novel scenarios or user preferences outside the original design scope requires firmware updates and human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Modern IPA systems integrate multiple AI technologies to automate business processes. Document understanding begins with Optical Character Recognition (OCR) combined with Natural Language Processing (NLP) to extract structured information from unstructured documents. The system employs pattern recognition algorithms trained on historical data to classify and route documents. When the AI's confidence level falls below predetermined thresholds, the system automatically escalates to human reviewers, ensuring accuracy in critical decisions.</a:t>
            </a:r>
          </a:p>
          <a:p>
            <a:r>
              <a:t>Exception handling operates through rule-based decision trees that encode business logic and compliance requirements. While these systems can handle routine scenarios effectively, they possess limited decision-making capabilities constrained within predefined scenarios. The system cannot autonomously adapt to genuinely novel situations outside its training parameters.</a:t>
            </a:r>
          </a:p>
          <a:p>
            <a:r>
              <a:t>The combination of Robotic Process Automation with Machine Learning creates more sophisticated automation capabilities. These systems excel at processing unstructured data from emails, forms, and documents that traditional RPA systems struggle with. Natural language interactions through chatbots enable users to interact with automated systems using conversational interfaces. The system continuously learns from historical patterns to optimize workflows, suggesting process improvements based on observed bottlenecks and inefficiencies.</a:t>
            </a:r>
          </a:p>
          <a:p>
            <a:r>
              <a:t>Organizations implementing cognitive automation report substantial operational improvements. Industry metrics consistently show 30-50% reduction in manual processing time for routine tasks. Improved accuracy in data extraction reduces errors that often plague manual data entry processes. However, a critical caveat remains: these systems still require human exception handling. Human oversight ensures quality control, manages edge cases, and provides the contextual understanding that current AI systems lack.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Challenges: Model drift occurs when AI performance degrades over time without retraining, often due to changing data distributions in production environments. Edge cases represent scenarios outside the training data distribution where systems fail unexpectedly. Interpretability remains a fundamental challenge, as understanding why an AI system made a particular decision is often difficult with complex neural networks. The classic principle of "garbage in, garbage out" still applies, as data quality issues directly impact AI system performance and reliability.</a:t>
            </a:r>
          </a:p>
          <a:p>
            <a:r>
              <a:t>True Self-Learning Barriers: Catastrophic forgetting is a fundamental limitation where new learning erases or significantly degrades previous knowledge in neural networks. Safety concerns arise when autonomous learning systems can develop unexpected behaviors without human oversight, potentially leading to harmful outcomes. Regulatory requirements in many industries, including healthcare, finance, and transportation, mandate human oversight and explainability, preventing fully autonomous AI deployment.</a:t>
            </a:r>
          </a:p>
          <a:p>
            <a:r>
              <a:t>Current Production Reality: Most "cognitive AI" systems in production require periodic human intervention for model updates, error correction, and handling exceptional cases. Continuous monitoring is necessary to detect model drift, data quality issues, and performance degradation. Human-in-the-loop design patterns remain the predominant approach for production AI systems, ensuring safety, compliance, and reliability.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Emerging Research Areas: Continual learning aims to enable systems that can learn new information without forgetting previously learned knowledge, addressing the catastrophic forgetting problem. Meta-learning focuses on developing systems that can "learn how to learn," rapidly adapting to new tasks with minimal training data. Causal reasoning seeks to move beyond correlation-based pattern recognition to understanding cause-and-effect relationships. Explainable AI (XAI) aims to make AI decision-making processes transparent and interpretable for human users.</a:t>
            </a:r>
          </a:p>
          <a:p>
            <a:r>
              <a:t>Potential Timeline (Research Perspective): Near-term developments (2-5 years) are likely to focus on improving human-AI collaboration tools, enhancing model interpretability, and developing better safety mechanisms. Medium-term advances (5-10 years) may bring limited autonomous reasoning capabilities in controlled domains with well-defined boundaries. Long-term possibilities (10+ years) include potentially true self-learning systems, though these remain highly speculative and uncertain.</a:t>
            </a:r>
          </a:p>
          <a:p>
            <a:r>
              <a:t>Societal Preparation Needed: Regulatory frameworks must evolve to address autonomous system deployment, liability, and safety standards. Workforce retraining programs are essential to help workers adapt to AI-augmented roles and new job categories. Ethical guidelines for AI development should address fairness, transparency, accountability, and societal impact.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Cognitive Thinking in AI</a:t>
            </a:r>
          </a:p>
        </p:txBody>
      </p:sp>
      <p:sp>
        <p:nvSpPr>
          <p:cNvPr id="3" name="Subtitle 2"/>
          <p:cNvSpPr>
            <a:spLocks noGrp="1"/>
          </p:cNvSpPr>
          <p:nvPr>
            <p:ph type="subTitle" idx="1"/>
          </p:nvPr>
        </p:nvSpPr>
        <p:spPr/>
        <p:txBody>
          <a:bodyPr/>
          <a:lstStyle/>
          <a:p>
            <a:r>
              <a:t>Presenter: [Your Name] • Date: [Current Date] • Duration: 20-30 minutes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Today's Journey</a:t>
            </a:r>
          </a:p>
        </p:txBody>
      </p:sp>
      <p:sp>
        <p:nvSpPr>
          <p:cNvPr id="3" name="Content Placeholder 2"/>
          <p:cNvSpPr>
            <a:spLocks noGrp="1"/>
          </p:cNvSpPr>
          <p:nvPr>
            <p:ph idx="1"/>
          </p:nvPr>
        </p:nvSpPr>
        <p:spPr/>
        <p:txBody>
          <a:bodyPr/>
          <a:lstStyle/>
          <a:p>
            <a:pPr>
              <a:defRPr sz="1800"/>
            </a:pPr>
            <a:r>
              <a:t>Part I: Understanding Human Cognitive Thinking</a:t>
            </a:r>
          </a:p>
          <a:p>
            <a:pPr>
              <a:defRPr sz="1800"/>
            </a:pPr>
            <a:r>
              <a:t>- Historical perspectives</a:t>
            </a:r>
          </a:p>
          <a:p>
            <a:pPr>
              <a:defRPr sz="1800"/>
            </a:pPr>
            <a:r>
              <a:t>- Psychological foundations</a:t>
            </a:r>
          </a:p>
          <a:p>
            <a:pPr>
              <a:defRPr sz="1800"/>
            </a:pPr>
            <a:r>
              <a:t>Part II: Cognitive AI in Modern Technology</a:t>
            </a:r>
          </a:p>
          <a:p>
            <a:pPr>
              <a:defRPr sz="1800"/>
            </a:pPr>
            <a:r>
              <a:t>- Consumer applications</a:t>
            </a:r>
          </a:p>
          <a:p>
            <a:pPr>
              <a:defRPr sz="1800"/>
            </a:pPr>
            <a:r>
              <a:t>- Automation transformations</a:t>
            </a:r>
          </a:p>
          <a:p>
            <a:pPr>
              <a:defRPr sz="1800"/>
            </a:pPr>
            <a:r>
              <a:t>Part III: Business Applications</a:t>
            </a:r>
          </a:p>
          <a:p>
            <a:pPr>
              <a:defRPr sz="1800"/>
            </a:pPr>
            <a:r>
              <a:t>- Root cause analysis</a:t>
            </a:r>
          </a:p>
          <a:p>
            <a:pPr>
              <a:defRPr sz="1800"/>
            </a:pPr>
            <a:r>
              <a:t>- Predictive forecasting</a:t>
            </a:r>
          </a:p>
          <a:p>
            <a:pPr>
              <a:defRPr sz="1800"/>
            </a:pPr>
            <a:r>
              <a:t>- Strategic prescriptive analytics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Defining the Foundation</a:t>
            </a:r>
          </a:p>
        </p:txBody>
      </p:sp>
      <p:sp>
        <p:nvSpPr>
          <p:cNvPr id="3" name="Content Placeholder 2"/>
          <p:cNvSpPr>
            <a:spLocks noGrp="1"/>
          </p:cNvSpPr>
          <p:nvPr>
            <p:ph idx="1"/>
          </p:nvPr>
        </p:nvSpPr>
        <p:spPr/>
        <p:txBody>
          <a:bodyPr/>
          <a:lstStyle/>
          <a:p>
            <a:pPr>
              <a:defRPr sz="1800"/>
            </a:pPr>
            <a:r>
              <a:t>[Diagram: Mermaid diagram omitted]</a:t>
            </a:r>
          </a:p>
          <a:p>
            <a:pPr>
              <a:defRPr sz="1800"/>
            </a:pPr>
            <a:r>
              <a:t>Human Cognitive Thinking:</a:t>
            </a:r>
          </a:p>
          <a:p>
            <a:pPr>
              <a:defRPr sz="1800"/>
            </a:pPr>
            <a:r>
              <a:t>Cognitive AI (Current Reality vs. Aspiration):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Evolution of Understanding</a:t>
            </a:r>
          </a:p>
        </p:txBody>
      </p:sp>
      <p:sp>
        <p:nvSpPr>
          <p:cNvPr id="3" name="Content Placeholder 2"/>
          <p:cNvSpPr>
            <a:spLocks noGrp="1"/>
          </p:cNvSpPr>
          <p:nvPr>
            <p:ph idx="1"/>
          </p:nvPr>
        </p:nvSpPr>
        <p:spPr/>
        <p:txBody>
          <a:bodyPr/>
          <a:lstStyle/>
          <a:p>
            <a:pPr>
              <a:defRPr sz="1800"/>
            </a:pPr>
            <a:r>
              <a:t>[Diagram: Mermaid diagram omitted]</a:t>
            </a:r>
          </a:p>
          <a:p>
            <a:pPr>
              <a:defRPr sz="1800"/>
            </a:pPr>
            <a:r>
              <a:t>Key Milestones:</a:t>
            </a:r>
          </a:p>
          <a:p>
            <a:pPr>
              <a:defRPr sz="1800"/>
            </a:pPr>
            <a:r>
              <a:t>Ancient Philosophy (500 BCE - 500 CE): Aristotle's concept of mind and reasoning (https://en.wikipedia.org/wiki/Aristotle#Psychology), Plato's theory of knowledge (https://en.wikipedia.org/wiki/Plato#Theoryofknowledge)</a:t>
            </a:r>
          </a:p>
          <a:p>
            <a:pPr>
              <a:defRPr sz="1800"/>
            </a:pPr>
            <a:r>
              <a:t>Scientific Revolution (1600s-1700s): Descartes' dualism (https://en.wikipedia.org/wiki/Mind%E2%80%93body_dualism), Empiricism through experience</a:t>
            </a:r>
          </a:p>
          <a:p>
            <a:pPr>
              <a:defRPr sz="1800"/>
            </a:pPr>
            <a:r>
              <a:t>Modern Era (1879-Present): Wilhelm Wundt's lab (https://en.wikipedia.org/wiki/WilhelmWundt), William James' consciousness (https://en.wikipedia.org/wiki/WilliamJames), Gestalt psychology (https://en.wikipedia.org/wiki/Gestalt_psychology)</a:t>
            </a:r>
          </a:p>
          <a:p>
            <a:pPr>
              <a:defRPr sz="1800"/>
            </a:pPr>
            <a:r>
              <a:t>References:</a:t>
            </a:r>
          </a:p>
          <a:p>
            <a:pPr>
              <a:defRPr sz="1800"/>
            </a:pPr>
            <a:r>
              <a:t>History of psychology - Wikipedia (https://en.wikipedia.org/wiki/Historyofpsychology)</a:t>
            </a:r>
          </a:p>
          <a:p>
            <a:pPr>
              <a:defRPr sz="1800"/>
            </a:pPr>
            <a:r>
              <a:t>The Origins of Psychology: History Through the Years - Verywell Mind (https://www.verywellmind.com/a-brief-history-of-psychology-through-the-years-2795245)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Core Cognitive Processes</a:t>
            </a:r>
          </a:p>
        </p:txBody>
      </p:sp>
      <p:sp>
        <p:nvSpPr>
          <p:cNvPr id="3" name="Content Placeholder 2"/>
          <p:cNvSpPr>
            <a:spLocks noGrp="1"/>
          </p:cNvSpPr>
          <p:nvPr>
            <p:ph idx="1"/>
          </p:nvPr>
        </p:nvSpPr>
        <p:spPr/>
        <p:txBody>
          <a:bodyPr/>
          <a:lstStyle/>
          <a:p>
            <a:pPr>
              <a:defRPr sz="1800"/>
            </a:pPr>
            <a:r>
              <a:t>[Diagram: Mermaid diagram omitted]</a:t>
            </a:r>
          </a:p>
          <a:p>
            <a:pPr>
              <a:defRPr sz="1800"/>
            </a:pPr>
            <a:r>
              <a:t>References:</a:t>
            </a:r>
          </a:p>
          <a:p>
            <a:pPr>
              <a:defRPr sz="1800"/>
            </a:pPr>
            <a:r>
              <a:t>Cognitive Psychology: The Science of How We Think - Verywell Mind (https://www.verywellmind.com/cognitive-psychology-4157181)</a:t>
            </a:r>
          </a:p>
          <a:p>
            <a:pPr>
              <a:defRPr sz="1800"/>
            </a:pPr>
            <a:r>
              <a:t>Cognitive Approach In Psychology - Simply Psychology (https://www.simplypsychology.org/cognitive.html)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Theoretical Frameworks</a:t>
            </a:r>
          </a:p>
        </p:txBody>
      </p:sp>
      <p:sp>
        <p:nvSpPr>
          <p:cNvPr id="3" name="Content Placeholder 2"/>
          <p:cNvSpPr>
            <a:spLocks noGrp="1"/>
          </p:cNvSpPr>
          <p:nvPr>
            <p:ph idx="1"/>
          </p:nvPr>
        </p:nvSpPr>
        <p:spPr/>
        <p:txBody>
          <a:bodyPr/>
          <a:lstStyle/>
          <a:p>
            <a:pPr>
              <a:defRPr sz="1800"/>
            </a:pPr>
            <a:r>
              <a:t>[Diagram: Mermaid diagram omitted]</a:t>
            </a:r>
          </a:p>
          <a:p>
            <a:pPr>
              <a:defRPr sz="1800"/>
            </a:pPr>
            <a:r>
              <a:t>Information Processing Theory (https://en.wikipedia.org/wiki/Informationprocessing(psychology)):</a:t>
            </a:r>
          </a:p>
          <a:p>
            <a:pPr>
              <a:defRPr sz="1800"/>
            </a:pPr>
            <a:r>
              <a:t>Cognitive Load Theory (https://en.wikipedia.org/wiki/Cognitive_load):</a:t>
            </a:r>
          </a:p>
          <a:p>
            <a:pPr>
              <a:defRPr sz="1800"/>
            </a:pPr>
            <a:r>
              <a:t>Dual-Process Theory (https://en.wikipedia.org/wiki/Dualprocesstheory):</a:t>
            </a:r>
          </a:p>
          <a:p>
            <a:pPr>
              <a:defRPr sz="1800"/>
            </a:pPr>
            <a:r>
              <a:t>References:</a:t>
            </a:r>
          </a:p>
          <a:p>
            <a:pPr>
              <a:defRPr sz="1800"/>
            </a:pPr>
            <a:r>
              <a:t>1.2 The Evolution of Psychology: History, Approaches, and Questions - Open Text BC (https://opentextbc.ca/introductiontopsychology/chapter/1-2-the-evolution-of-psychology-history-approaches-and-questions/)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Current Capabilities vs. Marketing Claims</a:t>
            </a:r>
          </a:p>
        </p:txBody>
      </p:sp>
      <p:sp>
        <p:nvSpPr>
          <p:cNvPr id="3" name="Content Placeholder 2"/>
          <p:cNvSpPr>
            <a:spLocks noGrp="1"/>
          </p:cNvSpPr>
          <p:nvPr>
            <p:ph idx="1"/>
          </p:nvPr>
        </p:nvSpPr>
        <p:spPr/>
        <p:txBody>
          <a:bodyPr/>
          <a:lstStyle/>
          <a:p>
            <a:pPr>
              <a:defRPr sz="1800"/>
            </a:pPr>
            <a:r>
              <a:t>[Diagram: Mermaid diagram omitted]</a:t>
            </a:r>
          </a:p>
          <a:p>
            <a:pPr>
              <a:defRPr sz="1800"/>
            </a:pPr>
            <a:r>
              <a:t>Traditional AI (Rule-based):</a:t>
            </a:r>
          </a:p>
          <a:p>
            <a:pPr>
              <a:defRPr sz="1800"/>
            </a:pPr>
            <a:r>
              <a:t>Current "Cognitive AI" (More Accurate Term: Advanced ML):</a:t>
            </a:r>
          </a:p>
          <a:p>
            <a:pPr>
              <a:defRPr sz="1800"/>
            </a:pPr>
            <a:r>
              <a:t>True Self-Learning Systems:</a:t>
            </a:r>
          </a:p>
          <a:p>
            <a:pPr>
              <a:defRPr sz="1800"/>
            </a:pPr>
            <a:r>
              <a:t>Current Status: Largely theoretical or experimental</a:t>
            </a:r>
          </a:p>
          <a:p>
            <a:pPr>
              <a:defRPr sz="1800"/>
            </a:pPr>
            <a:r>
              <a:t>Production Reality: Most systems require human intervention and retraining cycles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Production Systems with Adaptive Features</a:t>
            </a:r>
          </a:p>
        </p:txBody>
      </p:sp>
      <p:sp>
        <p:nvSpPr>
          <p:cNvPr id="3" name="Content Placeholder 2"/>
          <p:cNvSpPr>
            <a:spLocks noGrp="1"/>
          </p:cNvSpPr>
          <p:nvPr>
            <p:ph idx="1"/>
          </p:nvPr>
        </p:nvSpPr>
        <p:spPr/>
        <p:txBody>
          <a:bodyPr/>
          <a:lstStyle/>
          <a:p>
            <a:pPr>
              <a:defRPr sz="1800"/>
            </a:pPr>
            <a:r>
              <a:t>[Diagram: Mermaid diagram omitted]</a:t>
            </a:r>
          </a:p>
          <a:p>
            <a:pPr>
              <a:defRPr sz="1800"/>
            </a:pPr>
            <a:r>
              <a:t>Virtual Assistants (Limited Adaptation):</a:t>
            </a:r>
          </a:p>
          <a:p>
            <a:pPr>
              <a:defRPr sz="1800"/>
            </a:pPr>
            <a:r>
              <a:t>Recommendation Systems:</a:t>
            </a:r>
          </a:p>
          <a:p>
            <a:pPr>
              <a:defRPr sz="1800"/>
            </a:pPr>
            <a:r>
              <a:t>Smart Home Systems:</a:t>
            </a:r>
          </a:p>
          <a:p>
            <a:pPr>
              <a:defRPr sz="1800"/>
            </a:pPr>
            <a:r>
              <a:t>References:</a:t>
            </a:r>
          </a:p>
          <a:p>
            <a:pPr>
              <a:defRPr sz="1800"/>
            </a:pPr>
            <a:r>
              <a:t>[10 Ways Tesla Is Using AI [Case Study] [2025] - DigitalDefynd](https://digitaldefynd.com/IQ/tesla-using-ai-case-study/)</a:t>
            </a:r>
          </a:p>
          <a:p>
            <a:pPr>
              <a:defRPr sz="1800"/>
            </a:pPr>
            <a:r>
              <a:t>Real-world gen AI use cases from Google Cloud (https://cloud.google.com/transform/101-real-world-generative-ai-use-cases-from-industry-leaders)</a:t>
            </a:r>
          </a:p>
          <a:p>
            <a:pPr>
              <a:defRPr sz="1800"/>
            </a:pPr>
            <a:r>
              <a:t>Are Alexa And Siri Considered AI? - Bernard Marr (https://bernardmarr.com/are-alexa-and-siri-considered-ai/)</a:t>
            </a:r>
          </a:p>
          <a:p>
            <a:pPr>
              <a:defRPr sz="1800"/>
            </a:pPr>
            <a:r>
              <a:t>Introducing Gemini, your new personal AI assistant - Google (https://gemini.google/assistant/?hl=en)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Transformation (With Caveats)</a:t>
            </a:r>
          </a:p>
        </p:txBody>
      </p:sp>
      <p:sp>
        <p:nvSpPr>
          <p:cNvPr id="3" name="Content Placeholder 2"/>
          <p:cNvSpPr>
            <a:spLocks noGrp="1"/>
          </p:cNvSpPr>
          <p:nvPr>
            <p:ph idx="1"/>
          </p:nvPr>
        </p:nvSpPr>
        <p:spPr/>
        <p:txBody>
          <a:bodyPr/>
          <a:lstStyle/>
          <a:p>
            <a:pPr>
              <a:defRPr sz="1800"/>
            </a:pPr>
            <a:r>
              <a:t>[Diagram: Mermaid diagram omitted]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Actually Exists Today</a:t>
            </a:r>
          </a:p>
        </p:txBody>
      </p:sp>
      <p:sp>
        <p:nvSpPr>
          <p:cNvPr id="3" name="Content Placeholder 2"/>
          <p:cNvSpPr>
            <a:spLocks noGrp="1"/>
          </p:cNvSpPr>
          <p:nvPr>
            <p:ph idx="1"/>
          </p:nvPr>
        </p:nvSpPr>
        <p:spPr/>
        <p:txBody>
          <a:bodyPr/>
          <a:lstStyle/>
          <a:p>
            <a:pPr>
              <a:defRPr sz="1800"/>
            </a:pPr>
            <a:r>
              <a:t>Tesla Autopilot/FSD (Supervised):</a:t>
            </a:r>
          </a:p>
          <a:p>
            <a:pPr>
              <a:defRPr sz="1800"/>
            </a:pPr>
            <a:r>
              <a:t>Uses billions of miles of real-world driving data (https://www.tesla.com/fsd)</a:t>
            </a:r>
          </a:p>
          <a:p>
            <a:pPr>
              <a:defRPr sz="1800"/>
            </a:pPr>
            <a:r>
              <a:t>Continuous model updates from fleet learning</a:t>
            </a:r>
          </a:p>
          <a:p>
            <a:pPr>
              <a:defRPr sz="1800"/>
            </a:pPr>
            <a:r>
              <a:t>Important: Requires human supervision and periodic model retraining</a:t>
            </a:r>
          </a:p>
          <a:p>
            <a:pPr>
              <a:defRPr sz="1800"/>
            </a:pPr>
            <a:r>
              <a:t>Adaptive AI in Production (https://www.acceldata.io/blog/what-is-adaptive-ai-a-complete-guide-to-self-learning-systems):</a:t>
            </a:r>
          </a:p>
          <a:p>
            <a:pPr>
              <a:defRPr sz="1800"/>
            </a:pPr>
            <a:r>
              <a:t>Real-time fraud detection systems (banks)</a:t>
            </a:r>
          </a:p>
          <a:p>
            <a:pPr>
              <a:defRPr sz="1800"/>
            </a:pPr>
            <a:r>
              <a:t>Dynamic pricing algorithms (e-commerce)</a:t>
            </a:r>
          </a:p>
          <a:p>
            <a:pPr>
              <a:defRPr sz="1800"/>
            </a:pPr>
            <a:r>
              <a:t>Limitation: Adaptation within controlled parameters</a:t>
            </a:r>
          </a:p>
          <a:p>
            <a:pPr>
              <a:defRPr sz="1800"/>
            </a:pPr>
            <a:r>
              <a:t>Continual Learning Research (https://arxiv.org/pdf/2506.03320):</a:t>
            </a:r>
          </a:p>
          <a:p>
            <a:pPr>
              <a:defRPr sz="1800"/>
            </a:pPr>
            <a:r>
              <a:t>Academic research on true continual learning</a:t>
            </a:r>
          </a:p>
          <a:p>
            <a:pPr>
              <a:defRPr sz="1800"/>
            </a:pPr>
            <a:r>
              <a:t>Status: Mostly experimental, limited production deployment</a:t>
            </a:r>
          </a:p>
          <a:p>
            <a:pPr>
              <a:defRPr sz="1800"/>
            </a:pPr>
            <a:r>
              <a:t>References:</a:t>
            </a:r>
          </a:p>
          <a:p>
            <a:pPr>
              <a:defRPr sz="1800"/>
            </a:pPr>
            <a:r>
              <a:t>Tesla Full Self-Driving (Supervised) (https://www.tesla.com/fsd)</a:t>
            </a:r>
          </a:p>
          <a:p>
            <a:pPr>
              <a:defRPr sz="1800"/>
            </a:pPr>
            <a:r>
              <a:t>Adaptive AI: Self-learning Systems Transforming Industries - AccelData (https://www.acceldata.io/blog/what-is-adaptive-ai-a-complete-guide-to-self-learning-systems)</a:t>
            </a:r>
          </a:p>
          <a:p>
            <a:pPr>
              <a:defRPr sz="1800"/>
            </a:pPr>
            <a:r>
              <a:t>The Future of Continual Learning in the Era of Foundation Models - arXiv (https://arxiv.org/pdf/2506.03320)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Technical Implementation Reality</a:t>
            </a:r>
          </a:p>
        </p:txBody>
      </p:sp>
      <p:sp>
        <p:nvSpPr>
          <p:cNvPr id="3" name="Content Placeholder 2"/>
          <p:cNvSpPr>
            <a:spLocks noGrp="1"/>
          </p:cNvSpPr>
          <p:nvPr>
            <p:ph idx="1"/>
          </p:nvPr>
        </p:nvSpPr>
        <p:spPr/>
        <p:txBody>
          <a:bodyPr/>
          <a:lstStyle/>
          <a:p>
            <a:pPr>
              <a:defRPr sz="1800"/>
            </a:pPr>
            <a:r>
              <a:t>Current Techniques (Not True Reasoning):</a:t>
            </a:r>
          </a:p>
          <a:p>
            <a:pPr>
              <a:defRPr sz="1800"/>
            </a:pPr>
            <a:r>
              <a:t>Transfer Learning: Pre-trained models adapted to new domains</a:t>
            </a:r>
          </a:p>
          <a:p>
            <a:pPr>
              <a:defRPr sz="1800"/>
            </a:pPr>
            <a:r>
              <a:t>Few-Shot Learning: Learning from limited examples</a:t>
            </a:r>
          </a:p>
          <a:p>
            <a:pPr>
              <a:defRPr sz="1800"/>
            </a:pPr>
            <a:r>
              <a:t>Online Learning: Incremental updates to models</a:t>
            </a:r>
          </a:p>
          <a:p>
            <a:pPr>
              <a:defRPr sz="1800"/>
            </a:pPr>
            <a:r>
              <a:t>Ensemble Methods: Combining multiple models for better decisions</a:t>
            </a:r>
          </a:p>
          <a:p>
            <a:pPr>
              <a:defRPr sz="1800"/>
            </a:pPr>
            <a:r>
              <a:t>Real Implementation Example:</a:t>
            </a:r>
          </a:p>
          <a:p>
            <a:pPr>
              <a:defRPr sz="1800"/>
            </a:pPr>
            <a:r>
              <a:t>[Diagram: Mermaid diagram omitted]</a:t>
            </a:r>
          </a:p>
          <a:p>
            <a:pPr>
              <a:defRPr sz="1800"/>
            </a:pPr>
            <a:r>
              <a:t>Limitations:</a:t>
            </a:r>
          </a:p>
          <a:p>
            <a:pPr>
              <a:defRPr sz="1800"/>
            </a:pPr>
            <a:r>
              <a:t>Requires pre-defined decision boundaries</a:t>
            </a:r>
          </a:p>
          <a:p>
            <a:pPr>
              <a:defRPr sz="1800"/>
            </a:pPr>
            <a:r>
              <a:t>Cannot reason about truly novel situations</a:t>
            </a:r>
          </a:p>
          <a:p>
            <a:pPr>
              <a:defRPr sz="1800"/>
            </a:pPr>
            <a:r>
              <a:t>Needs human oversight for edge cases</a:t>
            </a:r>
          </a:p>
          <a:p>
            <a:pPr>
              <a:defRPr sz="1800"/>
            </a:pPr>
            <a:r>
              <a:t>References:</a:t>
            </a:r>
          </a:p>
          <a:p>
            <a:pPr>
              <a:defRPr sz="1800"/>
            </a:pPr>
            <a:r>
              <a:t>Exploring continual learning for code generation models - Amazon Science (https://www.amazon.science/publications/exploring-continual-learning-for-code-generation-models)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Current Production Applications</a:t>
            </a:r>
          </a:p>
        </p:txBody>
      </p:sp>
      <p:sp>
        <p:nvSpPr>
          <p:cNvPr id="3" name="Content Placeholder 2"/>
          <p:cNvSpPr>
            <a:spLocks noGrp="1"/>
          </p:cNvSpPr>
          <p:nvPr>
            <p:ph idx="1"/>
          </p:nvPr>
        </p:nvSpPr>
        <p:spPr/>
        <p:txBody>
          <a:bodyPr/>
          <a:lstStyle/>
          <a:p>
            <a:pPr>
              <a:defRPr sz="1800"/>
            </a:pPr>
            <a:r>
              <a:t>[Diagram: Mermaid diagram omitted]</a:t>
            </a:r>
          </a:p>
          <a:p>
            <a:pPr>
              <a:defRPr sz="1800"/>
            </a:pPr>
            <a:r>
              <a:t>Intelligent Process Automation (IPA) - Reality:</a:t>
            </a:r>
          </a:p>
          <a:p>
            <a:pPr>
              <a:defRPr sz="1800"/>
            </a:pPr>
            <a:r>
              <a:t>RPA + ML Integration:</a:t>
            </a:r>
          </a:p>
          <a:p>
            <a:pPr>
              <a:defRPr sz="1800"/>
            </a:pPr>
            <a:r>
              <a:t>Production Benefits (Documented):</a:t>
            </a:r>
          </a:p>
          <a:p>
            <a:pPr>
              <a:defRPr sz="1800"/>
            </a:pPr>
            <a:r>
              <a:t>References:</a:t>
            </a:r>
          </a:p>
          <a:p>
            <a:pPr>
              <a:defRPr sz="1800"/>
            </a:pPr>
            <a:r>
              <a:t>AI revolutionizing industries worldwide - ScienceDirect (https://www.sciencedirect.com/science/article/pii/S2773207X24001386)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What's Possible vs. What's Deployed</a:t>
            </a:r>
          </a:p>
        </p:txBody>
      </p:sp>
      <p:sp>
        <p:nvSpPr>
          <p:cNvPr id="3" name="Content Placeholder 2"/>
          <p:cNvSpPr>
            <a:spLocks noGrp="1"/>
          </p:cNvSpPr>
          <p:nvPr>
            <p:ph idx="1"/>
          </p:nvPr>
        </p:nvSpPr>
        <p:spPr/>
        <p:txBody>
          <a:bodyPr/>
          <a:lstStyle/>
          <a:p>
            <a:pPr>
              <a:defRPr sz="1800"/>
            </a:pPr>
            <a:r>
              <a:t>Traditional Approach:</a:t>
            </a:r>
          </a:p>
          <a:p>
            <a:pPr>
              <a:defRPr sz="1800"/>
            </a:pPr>
            <a:r>
              <a:t>Manual investigation</a:t>
            </a:r>
          </a:p>
          <a:p>
            <a:pPr>
              <a:defRPr sz="1800"/>
            </a:pPr>
            <a:r>
              <a:t>Limited data correlation</a:t>
            </a:r>
          </a:p>
          <a:p>
            <a:pPr>
              <a:defRPr sz="1800"/>
            </a:pPr>
            <a:r>
              <a:t>Time-intensive process</a:t>
            </a:r>
          </a:p>
          <a:p>
            <a:pPr>
              <a:defRPr sz="1800"/>
            </a:pPr>
            <a:r>
              <a:t>Current AI-Assisted Approach:</a:t>
            </a:r>
          </a:p>
          <a:p>
            <a:pPr>
              <a:defRPr sz="1800"/>
            </a:pPr>
            <a:r>
              <a:t>[Diagram: Mermaid diagram omitted]</a:t>
            </a:r>
          </a:p>
          <a:p>
            <a:pPr>
              <a:defRPr sz="1800"/>
            </a:pPr>
            <a:r>
              <a:t>Real-World Tools:</a:t>
            </a:r>
          </a:p>
          <a:p>
            <a:pPr>
              <a:defRPr sz="1800"/>
            </a:pPr>
            <a:r>
              <a:t>Microsoft Azure Monitor with AI-based anomaly detection</a:t>
            </a:r>
          </a:p>
          <a:p>
            <a:pPr>
              <a:defRPr sz="1800"/>
            </a:pPr>
            <a:r>
              <a:t>Splunk's Machine Learning Toolkit</a:t>
            </a:r>
          </a:p>
          <a:p>
            <a:pPr>
              <a:defRPr sz="1800"/>
            </a:pPr>
            <a:r>
              <a:t>Reality: Provides suggestions, human expertise still required for validation</a:t>
            </a:r>
          </a:p>
          <a:p>
            <a:pPr>
              <a:defRPr sz="1800"/>
            </a:pPr>
            <a:r>
              <a:t>References:</a:t>
            </a:r>
          </a:p>
          <a:p>
            <a:pPr>
              <a:defRPr sz="1800"/>
            </a:pPr>
            <a:r>
              <a:t>AIOps and machine learning in Azure Monitor (https://learn.microsoft.com/en-us/azure/azure-monitor/aiops/aiops-machine-learning)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Production Forecasting Systems</a:t>
            </a:r>
          </a:p>
        </p:txBody>
      </p:sp>
      <p:sp>
        <p:nvSpPr>
          <p:cNvPr id="3" name="Content Placeholder 2"/>
          <p:cNvSpPr>
            <a:spLocks noGrp="1"/>
          </p:cNvSpPr>
          <p:nvPr>
            <p:ph idx="1"/>
          </p:nvPr>
        </p:nvSpPr>
        <p:spPr/>
        <p:txBody>
          <a:bodyPr/>
          <a:lstStyle/>
          <a:p>
            <a:pPr>
              <a:defRPr sz="1800"/>
            </a:pPr>
            <a:r>
              <a:t>Current AI Capabilities:</a:t>
            </a:r>
          </a:p>
          <a:p>
            <a:pPr>
              <a:defRPr sz="1800"/>
            </a:pPr>
            <a:r>
              <a:t>Time series analysis with machine learning</a:t>
            </a:r>
          </a:p>
          <a:p>
            <a:pPr>
              <a:defRPr sz="1800"/>
            </a:pPr>
            <a:r>
              <a:t>Anomaly detection based on historical patterns</a:t>
            </a:r>
          </a:p>
          <a:p>
            <a:pPr>
              <a:defRPr sz="1800"/>
            </a:pPr>
            <a:r>
              <a:t>Risk scoring algorithms</a:t>
            </a:r>
          </a:p>
          <a:p>
            <a:pPr>
              <a:defRPr sz="1800"/>
            </a:pPr>
            <a:r>
              <a:t>Limitation: Predictions within training data distribution</a:t>
            </a:r>
          </a:p>
          <a:p>
            <a:pPr>
              <a:defRPr sz="1800"/>
            </a:pPr>
            <a:r>
              <a:t>Production Applications:</a:t>
            </a:r>
          </a:p>
          <a:p>
            <a:pPr>
              <a:defRPr sz="1800"/>
            </a:pPr>
            <a:r>
              <a:t>Equipment maintenance prediction (GE Predix, Siemens MindSphere)</a:t>
            </a:r>
          </a:p>
          <a:p>
            <a:pPr>
              <a:defRPr sz="1800"/>
            </a:pPr>
            <a:r>
              <a:t>System failure forecasting (cloud infrastructure monitoring)</a:t>
            </a:r>
          </a:p>
          <a:p>
            <a:pPr>
              <a:defRPr sz="1800"/>
            </a:pPr>
            <a:r>
              <a:t>Performance degradation alerts</a:t>
            </a:r>
          </a:p>
          <a:p>
            <a:pPr>
              <a:defRPr sz="1800"/>
            </a:pPr>
            <a:r>
              <a:t>Technical Approach:</a:t>
            </a:r>
          </a:p>
          <a:p>
            <a:pPr>
              <a:defRPr sz="1800"/>
            </a:pPr>
            <a:r>
              <a:t>Ensemble of statistical and ML models</a:t>
            </a:r>
          </a:p>
          <a:p>
            <a:pPr>
              <a:defRPr sz="1800"/>
            </a:pPr>
            <a:r>
              <a:t>Confidence intervals and uncertainty quantification</a:t>
            </a:r>
          </a:p>
          <a:p>
            <a:pPr>
              <a:defRPr sz="1800"/>
            </a:pPr>
            <a:r>
              <a:t>Human oversight for critical decisions</a:t>
            </a:r>
          </a:p>
          <a:p>
            <a:pPr>
              <a:defRPr sz="1800"/>
            </a:pPr>
            <a:r>
              <a:t>Accuracy Reality:</a:t>
            </a:r>
          </a:p>
          <a:p>
            <a:pPr>
              <a:defRPr sz="1800"/>
            </a:pPr>
            <a:r>
              <a:t>70-85% accuracy typical for well-defined problems</a:t>
            </a:r>
          </a:p>
          <a:p>
            <a:pPr>
              <a:defRPr sz="1800"/>
            </a:pPr>
            <a:r>
              <a:t>Decreases significantly for novel scenarios</a:t>
            </a:r>
          </a:p>
          <a:p>
            <a:pPr>
              <a:defRPr sz="1800"/>
            </a:pPr>
            <a:r>
              <a:t>References:</a:t>
            </a:r>
          </a:p>
          <a:p>
            <a:pPr>
              <a:defRPr sz="1800"/>
            </a:pPr>
            <a:r>
              <a:t>The 4 Types of Data Analytics Guide - InsightSoftware (https://insightsoftware.com/blog/comparing-descriptive-predictive-prescriptive-and-diagnostic-analytics/)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AI-Driven Business Recommendations</a:t>
            </a:r>
          </a:p>
        </p:txBody>
      </p:sp>
      <p:sp>
        <p:nvSpPr>
          <p:cNvPr id="3" name="Content Placeholder 2"/>
          <p:cNvSpPr>
            <a:spLocks noGrp="1"/>
          </p:cNvSpPr>
          <p:nvPr>
            <p:ph idx="1"/>
          </p:nvPr>
        </p:nvSpPr>
        <p:spPr/>
        <p:txBody>
          <a:bodyPr/>
          <a:lstStyle/>
          <a:p>
            <a:pPr>
              <a:defRPr sz="1800"/>
            </a:pPr>
            <a:r>
              <a:t>What Current Systems Provide:</a:t>
            </a:r>
          </a:p>
          <a:p>
            <a:pPr>
              <a:defRPr sz="1800"/>
            </a:pPr>
            <a:r>
              <a:t>Optimization within defined constraints</a:t>
            </a:r>
          </a:p>
          <a:p>
            <a:pPr>
              <a:defRPr sz="1800"/>
            </a:pPr>
            <a:r>
              <a:t>Scenario analysis based on historical data</a:t>
            </a:r>
          </a:p>
          <a:p>
            <a:pPr>
              <a:defRPr sz="1800"/>
            </a:pPr>
            <a:r>
              <a:t>Resource allocation suggestions</a:t>
            </a:r>
          </a:p>
          <a:p>
            <a:pPr>
              <a:defRPr sz="1800"/>
            </a:pPr>
            <a:r>
              <a:t>Important: Recommendations, not autonomous decisions</a:t>
            </a:r>
          </a:p>
          <a:p>
            <a:pPr>
              <a:defRPr sz="1800"/>
            </a:pPr>
            <a:r>
              <a:t>Production Implementation:</a:t>
            </a:r>
          </a:p>
          <a:p>
            <a:pPr>
              <a:defRPr sz="1800"/>
            </a:pPr>
            <a:r>
              <a:t>[Diagram: Mermaid diagram omitted]</a:t>
            </a:r>
          </a:p>
          <a:p>
            <a:pPr>
              <a:defRPr sz="1800"/>
            </a:pPr>
            <a:r>
              <a:t>Real Examples:</a:t>
            </a:r>
          </a:p>
          <a:p>
            <a:pPr>
              <a:defRPr sz="1800"/>
            </a:pPr>
            <a:r>
              <a:t>Supply chain optimization (Walmart, Amazon)</a:t>
            </a:r>
          </a:p>
          <a:p>
            <a:pPr>
              <a:defRPr sz="1800"/>
            </a:pPr>
            <a:r>
              <a:t>Investment portfolio recommendations (robo-advisors)</a:t>
            </a:r>
          </a:p>
          <a:p>
            <a:pPr>
              <a:defRPr sz="1800"/>
            </a:pPr>
            <a:r>
              <a:t>Reality: Human oversight required for strategic decisions</a:t>
            </a:r>
          </a:p>
          <a:p>
            <a:pPr>
              <a:defRPr sz="1800"/>
            </a:pPr>
            <a:r>
              <a:t>References:</a:t>
            </a:r>
          </a:p>
          <a:p>
            <a:pPr>
              <a:defRPr sz="1800"/>
            </a:pPr>
            <a:r>
              <a:t>What Is Prescriptive Analytics? 6 Examples - Harvard Business School (https://online.hbs.edu/blog/post/prescriptive-analytics)</a:t>
            </a:r>
          </a:p>
          <a:p>
            <a:pPr>
              <a:defRPr sz="1800"/>
            </a:pPr>
            <a:r>
              <a:t>The 5 different types of data analytics - Codal (https://codal.com/insights/the-5-different-types-of-data-analytics-and-why-theyre-important)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Current Limitations of "Cognitive" Systems</a:t>
            </a:r>
          </a:p>
        </p:txBody>
      </p:sp>
      <p:sp>
        <p:nvSpPr>
          <p:cNvPr id="3" name="Content Placeholder 2"/>
          <p:cNvSpPr>
            <a:spLocks noGrp="1"/>
          </p:cNvSpPr>
          <p:nvPr>
            <p:ph idx="1"/>
          </p:nvPr>
        </p:nvSpPr>
        <p:spPr/>
        <p:txBody>
          <a:bodyPr/>
          <a:lstStyle/>
          <a:p>
            <a:pPr>
              <a:defRPr sz="1800"/>
            </a:pPr>
            <a:r>
              <a:t>[Diagram: Mermaid diagram omitted]</a:t>
            </a:r>
          </a:p>
          <a:p>
            <a:pPr>
              <a:defRPr sz="1800"/>
            </a:pPr>
            <a:r>
              <a:t>Current Integration Challenges:</a:t>
            </a:r>
          </a:p>
          <a:p>
            <a:pPr>
              <a:defRPr sz="1800"/>
            </a:pPr>
            <a:r>
              <a:t>Model drift requires continuous monitoring</a:t>
            </a:r>
          </a:p>
          <a:p>
            <a:pPr>
              <a:defRPr sz="1800"/>
            </a:pPr>
            <a:r>
              <a:t>Edge cases need human intervention</a:t>
            </a:r>
          </a:p>
          <a:p>
            <a:pPr>
              <a:defRPr sz="1800"/>
            </a:pPr>
            <a:r>
              <a:t>Regulatory compliance requires explainability</a:t>
            </a:r>
          </a:p>
          <a:p>
            <a:pPr>
              <a:defRPr sz="1800"/>
            </a:pPr>
            <a:r>
              <a:t>Integration complexity across systems</a:t>
            </a:r>
          </a:p>
          <a:p>
            <a:pPr>
              <a:defRPr sz="1800"/>
            </a:pPr>
            <a:r>
              <a:t>Success Factors:</a:t>
            </a:r>
          </a:p>
          <a:p>
            <a:pPr>
              <a:defRPr sz="1800"/>
            </a:pPr>
            <a:r>
              <a:t>Clear human-AI role definition</a:t>
            </a:r>
          </a:p>
          <a:p>
            <a:pPr>
              <a:defRPr sz="1800"/>
            </a:pPr>
            <a:r>
              <a:t>Robust monitoring and alerting</a:t>
            </a:r>
          </a:p>
          <a:p>
            <a:pPr>
              <a:defRPr sz="1800"/>
            </a:pPr>
            <a:r>
              <a:t>Continuous model validation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Reality vs. Marketing Hype</a:t>
            </a:r>
          </a:p>
        </p:txBody>
      </p:sp>
      <p:sp>
        <p:nvSpPr>
          <p:cNvPr id="3" name="Content Placeholder 2"/>
          <p:cNvSpPr>
            <a:spLocks noGrp="1"/>
          </p:cNvSpPr>
          <p:nvPr>
            <p:ph idx="1"/>
          </p:nvPr>
        </p:nvSpPr>
        <p:spPr/>
        <p:txBody>
          <a:bodyPr/>
          <a:lstStyle/>
          <a:p>
            <a:pPr>
              <a:defRPr sz="1800"/>
            </a:pPr>
            <a:r>
              <a:t>[Diagram: Mermaid diagram omitted]</a:t>
            </a:r>
          </a:p>
          <a:p>
            <a:pPr>
              <a:defRPr sz="1800"/>
            </a:pPr>
            <a:r>
              <a:t>References:</a:t>
            </a:r>
          </a:p>
          <a:p>
            <a:pPr>
              <a:defRPr sz="1800"/>
            </a:pPr>
            <a:r>
              <a:t>Contra Dwarkesh on Continual Learning - Interconnects (https://www.interconnects.ai/p/contra-dwarkesh-on-continual-learning)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True Cognitive AI Might Lead</a:t>
            </a:r>
          </a:p>
        </p:txBody>
      </p:sp>
      <p:sp>
        <p:nvSpPr>
          <p:cNvPr id="3" name="Content Placeholder 2"/>
          <p:cNvSpPr>
            <a:spLocks noGrp="1"/>
          </p:cNvSpPr>
          <p:nvPr>
            <p:ph idx="1"/>
          </p:nvPr>
        </p:nvSpPr>
        <p:spPr/>
        <p:txBody>
          <a:bodyPr/>
          <a:lstStyle/>
          <a:p>
            <a:pPr>
              <a:defRPr sz="1800"/>
            </a:pPr>
            <a:r>
              <a:t>[Diagram: Mermaid diagram omitted]</a:t>
            </a:r>
          </a:p>
          <a:p>
            <a:pPr>
              <a:defRPr sz="1800"/>
            </a:pPr>
            <a:r>
              <a:t>[Diagram: Mermaid diagram omitted]</a:t>
            </a:r>
          </a:p>
          <a:p>
            <a:pPr>
              <a:defRPr sz="1800"/>
            </a:pPr>
            <a:r>
              <a:t>References:</a:t>
            </a:r>
          </a:p>
          <a:p>
            <a:pPr>
              <a:defRPr sz="1800"/>
            </a:pPr>
            <a:r>
              <a:t>Artificial intelligence: A powerful paradigm for scientific research - ScienceDirect (https://www.sciencedirect.com/science/article/pii/S2666675821001041)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 (Evidence-Based)</a:t>
            </a:r>
          </a:p>
        </p:txBody>
      </p:sp>
      <p:sp>
        <p:nvSpPr>
          <p:cNvPr id="3" name="Content Placeholder 2"/>
          <p:cNvSpPr>
            <a:spLocks noGrp="1"/>
          </p:cNvSpPr>
          <p:nvPr>
            <p:ph idx="1"/>
          </p:nvPr>
        </p:nvSpPr>
        <p:spPr/>
        <p:txBody>
          <a:bodyPr/>
          <a:lstStyle/>
          <a:p>
            <a:pPr>
              <a:defRPr sz="1800"/>
            </a:pPr>
            <a:r>
              <a:t>[Diagram: Mermaid diagram omitted]</a:t>
            </a:r>
          </a:p>
          <a:p>
            <a:pPr>
              <a:defRPr sz="1800"/>
            </a:pPr>
            <a:r>
              <a:t>Current State - What Actually Works:</a:t>
            </a:r>
          </a:p>
          <a:p>
            <a:pPr>
              <a:defRPr sz="1800"/>
            </a:pPr>
            <a:r>
              <a:t>Pattern Recognition ✓ Excellent at finding patterns in large datasets, enabling data-driven insights across industries from healthcare diagnostics to financial fraud detection.</a:t>
            </a:r>
          </a:p>
          <a:p>
            <a:pPr>
              <a:defRPr sz="1800"/>
            </a:pPr>
            <a:r>
              <a:t>Assisted Decision Making ✓ Provides valuable recommendations with human oversight, supporting professionals in complex decision-making processes while maintaining accountability.</a:t>
            </a:r>
          </a:p>
          <a:p>
            <a:pPr>
              <a:defRPr sz="1800"/>
            </a:pPr>
            <a:r>
              <a:t>Process Automation ✓ Effective for well-defined, repeatable tasks, streamlining operations and reducing manual effort in areas like document processing and workflow management.</a:t>
            </a:r>
          </a:p>
          <a:p>
            <a:pPr>
              <a:defRPr sz="1800"/>
            </a:pPr>
            <a:r>
              <a:t>Predictive Analytics ✓ Good performance within training data distribution, enabling accurate forecasts for scenarios similar to historical patterns.</a:t>
            </a:r>
          </a:p>
          <a:p>
            <a:pPr>
              <a:defRPr sz="1800"/>
            </a:pPr>
            <a:r>
              <a:t>What Doesn't Exist Yet:</a:t>
            </a:r>
          </a:p>
          <a:p>
            <a:pPr>
              <a:defRPr sz="1800"/>
            </a:pPr>
            <a:r>
              <a:t>True Self-Learning ✗ Most systems require human-supervised retraining and cannot autonomously improve without data scientists and domain experts guiding the process.</a:t>
            </a:r>
          </a:p>
          <a:p>
            <a:pPr>
              <a:defRPr sz="1800"/>
            </a:pPr>
            <a:r>
              <a:t>General Reasoning ✗ Current systems cannot reason about truly novel situations or transfer knowledge flexibly across different domains without specific retraining.</a:t>
            </a:r>
          </a:p>
          <a:p>
            <a:pPr>
              <a:defRPr sz="1800"/>
            </a:pPr>
            <a:r>
              <a:t>Autonomous Strategy ✗ Business decisions still require human judgment, domain expertise, and contextual understanding that AI cannot fully replicate.</a:t>
            </a:r>
          </a:p>
          <a:p>
            <a:pPr>
              <a:defRPr sz="1800"/>
            </a:pPr>
            <a:r>
              <a:t>Business Value Today:</a:t>
            </a:r>
          </a:p>
          <a:p>
            <a:pPr>
              <a:defRPr sz="1800"/>
            </a:pPr>
            <a:r>
              <a:t>Focus on augmentation: AI should augment human capabilities, not replace them, creating human-AI partnerships that leverage the strengths of both.</a:t>
            </a:r>
          </a:p>
          <a:p>
            <a:pPr>
              <a:defRPr sz="1800"/>
            </a:pPr>
            <a:r>
              <a:t>Expect maintenance: Continuous maintenance and human oversight requirements are fundamental to production AI systems, not temporary limitations.</a:t>
            </a:r>
          </a:p>
          <a:p>
            <a:pPr>
              <a:defRPr sz="1800"/>
            </a:pPr>
            <a:r>
              <a:t>Plan iteratively: Approach AI implementation with iterative improvement cycles rather than "set and forget" solutions, acknowledging the need for ongoing refinement.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Evidence-Based AI Implementation</a:t>
            </a:r>
          </a:p>
        </p:txBody>
      </p:sp>
      <p:sp>
        <p:nvSpPr>
          <p:cNvPr id="3" name="Content Placeholder 2"/>
          <p:cNvSpPr>
            <a:spLocks noGrp="1"/>
          </p:cNvSpPr>
          <p:nvPr>
            <p:ph idx="1"/>
          </p:nvPr>
        </p:nvSpPr>
        <p:spPr/>
        <p:txBody>
          <a:bodyPr/>
          <a:lstStyle/>
          <a:p>
            <a:pPr>
              <a:defRPr sz="1800"/>
            </a:pPr>
            <a:r>
              <a:t>Contact Information:</a:t>
            </a:r>
          </a:p>
          <a:p>
            <a:pPr>
              <a:defRPr sz="1800"/>
            </a:pPr>
            <a:r>
              <a:t>Email: [Your Email]</a:t>
            </a:r>
          </a:p>
          <a:p>
            <a:pPr>
              <a:defRPr sz="1800"/>
            </a:pPr>
            <a:r>
              <a:t>LinkedIn: [Your Profile]</a:t>
            </a:r>
          </a:p>
          <a:p>
            <a:pPr>
              <a:defRPr sz="1800"/>
            </a:pPr>
            <a:r>
              <a:t>Research Papers: [Relevant Publications]</a:t>
            </a:r>
          </a:p>
          <a:p>
            <a:pPr>
              <a:defRPr sz="1800"/>
            </a:pPr>
            <a:r>
              <a:t>Key Discussion Points:</a:t>
            </a:r>
          </a:p>
          <a:p>
            <a:pPr>
              <a:defRPr sz="1800"/>
            </a:pPr>
            <a:r>
              <a:t>Realistic expectations for AI implementation in your domain</a:t>
            </a:r>
          </a:p>
          <a:p>
            <a:pPr>
              <a:defRPr sz="1800"/>
            </a:pPr>
            <a:r>
              <a:t>Human-AI collaboration strategies</a:t>
            </a:r>
          </a:p>
          <a:p>
            <a:pPr>
              <a:defRPr sz="1800"/>
            </a:pPr>
            <a:r>
              <a:t>Measuring ROI with current AI capabilities</a:t>
            </a:r>
          </a:p>
          <a:p>
            <a:pPr>
              <a:defRPr sz="1800"/>
            </a:pPr>
            <a:r>
              <a:t>Planning for future AI developments</a:t>
            </a:r>
          </a:p>
          <a:p>
            <a:pPr>
              <a:defRPr sz="1800"/>
            </a:pPr>
            <a:r>
              <a:t>Critical Questions to Consider:</a:t>
            </a:r>
          </a:p>
          <a:p>
            <a:pPr>
              <a:defRPr sz="1800"/>
            </a:pPr>
            <a:r>
              <a:t>What level of human oversight is acceptable in your use case?</a:t>
            </a:r>
          </a:p>
          <a:p>
            <a:pPr>
              <a:defRPr sz="1800"/>
            </a:pPr>
            <a:r>
              <a:t>How will you handle model drift and continuous learning needs?</a:t>
            </a:r>
          </a:p>
          <a:p>
            <a:pPr>
              <a:defRPr sz="1800"/>
            </a:pPr>
            <a:r>
              <a:t>What are your regulatory and compliance requirements?</a:t>
            </a:r>
          </a:p>
          <a:p>
            <a:pPr>
              <a:defRPr sz="1800"/>
            </a:pPr>
            <a:r>
              <a:t>## References by Section</a:t>
            </a:r>
          </a:p>
          <a:p>
            <a:pPr>
              <a:defRPr sz="1800"/>
            </a:pPr>
            <a:r>
              <a:t>### Part I: Human Cognitive Foundations</a:t>
            </a:r>
          </a:p>
          <a:p>
            <a:pPr>
              <a:defRPr sz="1800"/>
            </a:pPr>
            <a:r>
              <a:t>History of psychology - Wikipedia (https://en.wikipedia.org/wiki/Historyofpsychology)</a:t>
            </a:r>
          </a:p>
          <a:p>
            <a:pPr>
              <a:defRPr sz="1800"/>
            </a:pPr>
            <a:r>
              <a:t>Wilhelm Wundt - Wikipedia (https://en.wikipedia.org/wiki/Wilhelm_Wundt)</a:t>
            </a:r>
          </a:p>
          <a:p>
            <a:pPr>
              <a:defRPr sz="1800"/>
            </a:pPr>
            <a:r>
              <a:t>Cognitive Psychology: The Science of How We Think - Verywell Mind (https://www.verywellmind.com/cognitive-psychology-4157181)</a:t>
            </a:r>
          </a:p>
          <a:p>
            <a:pPr>
              <a:defRPr sz="1800"/>
            </a:pPr>
            <a:r>
              <a:t>The Origins of Psychology - Verywell Mind (https://www.verywellmind.com/a-brief-history-of-psychology-through-the-years-2795245)</a:t>
            </a:r>
          </a:p>
          <a:p>
            <a:pPr>
              <a:defRPr sz="1800"/>
            </a:pPr>
            <a:r>
              <a:t>Cognitive Approach In Psychology - Simply Psychology (https://www.simplypsychology.org/cognitive.html)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